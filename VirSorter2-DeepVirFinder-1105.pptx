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7" r:id="rId3"/>
    <p:sldId id="347" r:id="rId4"/>
    <p:sldId id="346" r:id="rId5"/>
    <p:sldId id="345" r:id="rId6"/>
    <p:sldId id="344" r:id="rId7"/>
    <p:sldId id="343" r:id="rId8"/>
    <p:sldId id="342" r:id="rId9"/>
    <p:sldId id="341" r:id="rId10"/>
    <p:sldId id="340" r:id="rId11"/>
    <p:sldId id="339" r:id="rId12"/>
    <p:sldId id="338" r:id="rId13"/>
    <p:sldId id="352" r:id="rId14"/>
    <p:sldId id="351" r:id="rId15"/>
    <p:sldId id="33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7" autoAdjust="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2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665" y="1862947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b="1" dirty="0"/>
              <a:t>Machine Learning-Enhanced Metagenomic Viral Discovery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07768"/>
            <a:ext cx="6400800" cy="7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Sihua Peng</a:t>
            </a:r>
          </a:p>
          <a:p>
            <a:r>
              <a:rPr lang="en-US" b="1" dirty="0"/>
              <a:t>11/05 /2025</a:t>
            </a:r>
            <a:endParaRPr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F6612A-45EB-4789-BD74-D2EBA8EEBFE0}"/>
              </a:ext>
            </a:extLst>
          </p:cNvPr>
          <p:cNvGrpSpPr/>
          <p:nvPr/>
        </p:nvGrpSpPr>
        <p:grpSpPr>
          <a:xfrm>
            <a:off x="248902" y="182402"/>
            <a:ext cx="5497693" cy="1267256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EF78AAF6-0000-406A-908C-A3E989D7E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F000B6-33D8-45EF-8810-BBA1FFC42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0EFF052-ABD1-411B-BCDB-2251AE188DAA}"/>
              </a:ext>
            </a:extLst>
          </p:cNvPr>
          <p:cNvSpPr/>
          <p:nvPr/>
        </p:nvSpPr>
        <p:spPr>
          <a:xfrm>
            <a:off x="1094792" y="3332972"/>
            <a:ext cx="7358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-- A Novel Approach for Discovering Unknown Viruses in Metagenomic Data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A97C-2702-465A-9DDC-CEA443CF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Challenge - Traditional Limitations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BBC97-4C30-4726-B6C4-9CB5AAABB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01" y="1107322"/>
            <a:ext cx="8005665" cy="499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82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D1B7-6E39-4BD8-B484-B954A8BA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Solution - Machine Learning Revolution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90630-AB91-475B-9380-2469A9741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61" y="1239416"/>
            <a:ext cx="8229600" cy="114300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b="1" dirty="0"/>
              <a:t>Machine Learning Changes Everything</a:t>
            </a:r>
          </a:p>
          <a:p>
            <a:pPr marL="0" indent="0" algn="ctr">
              <a:buNone/>
            </a:pPr>
            <a:endParaRPr lang="en-US" sz="2800" b="1" dirty="0"/>
          </a:p>
          <a:p>
            <a:r>
              <a:rPr lang="en-US" sz="1900" b="1" dirty="0">
                <a:solidFill>
                  <a:srgbClr val="1F2328"/>
                </a:solidFill>
                <a:latin typeface="-apple-system"/>
              </a:rPr>
              <a:t>Key Innovation</a:t>
            </a:r>
            <a:r>
              <a:rPr lang="en-US" sz="1900" dirty="0">
                <a:solidFill>
                  <a:srgbClr val="1F2328"/>
                </a:solidFill>
                <a:latin typeface="-apple-system"/>
              </a:rPr>
              <a:t>: Pattern Recognition, Not Similarity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32AB6-E92B-4205-A21B-E19F43B01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96" y="2572140"/>
            <a:ext cx="7115257" cy="29298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E4A64E-41D0-4401-8CFD-13785DD50E46}"/>
              </a:ext>
            </a:extLst>
          </p:cNvPr>
          <p:cNvSpPr/>
          <p:nvPr/>
        </p:nvSpPr>
        <p:spPr>
          <a:xfrm>
            <a:off x="659363" y="5769080"/>
            <a:ext cx="7862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2328"/>
                </a:solidFill>
                <a:latin typeface="-apple-system"/>
              </a:rPr>
              <a:t>Breakthrough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Discover viruses with </a:t>
            </a:r>
            <a:r>
              <a:rPr lang="en-US" b="1" dirty="0">
                <a:solidFill>
                  <a:srgbClr val="1F2328"/>
                </a:solidFill>
                <a:latin typeface="-apple-system"/>
              </a:rPr>
              <a:t>0% similarity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 to known sequences!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13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61E0-A553-46C2-87E1-CA809DEB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Three-Pronged ML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F1684-FBF9-4F50-8584-75E8F933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85" y="2867856"/>
            <a:ext cx="5222033" cy="210094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Three Independent Lines of Evidence</a:t>
            </a:r>
            <a:r>
              <a:rPr lang="en-US" sz="2400" dirty="0"/>
              <a:t>:</a:t>
            </a:r>
          </a:p>
          <a:p>
            <a:r>
              <a:rPr lang="en-US" sz="2400" dirty="0"/>
              <a:t>VirSorter2 (Hybrid ML)</a:t>
            </a:r>
          </a:p>
          <a:p>
            <a:r>
              <a:rPr lang="en-US" sz="2400" dirty="0"/>
              <a:t>DeepVirFinder (Deep Learning) </a:t>
            </a:r>
          </a:p>
          <a:p>
            <a:r>
              <a:rPr lang="en-US" sz="2400" dirty="0" err="1"/>
              <a:t>viralFlye</a:t>
            </a:r>
            <a:r>
              <a:rPr lang="en-US" sz="2400" dirty="0"/>
              <a:t> (</a:t>
            </a:r>
            <a:r>
              <a:rPr lang="en-US" sz="2400" dirty="0" err="1"/>
              <a:t>Pfam</a:t>
            </a:r>
            <a:r>
              <a:rPr lang="en-US" sz="2400" dirty="0"/>
              <a:t> Protein Validation)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C0B8-437C-4EF5-8786-156258A16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232" y="1747934"/>
            <a:ext cx="3103983" cy="434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1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20D1-9038-4E7A-84EC-F4C7C6C7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Dual-Mode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9B034-C515-4D26-A458-7CE00CCB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6402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Flexible for Different Data Types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23B3BB-92AC-4877-AE55-9480D86FD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78504"/>
              </p:ext>
            </p:extLst>
          </p:nvPr>
        </p:nvGraphicFramePr>
        <p:xfrm>
          <a:off x="407437" y="2349596"/>
          <a:ext cx="8229600" cy="17145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41262217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4300265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1379546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1500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Mode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Data Type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Tools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Key Feature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825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Short-read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Illumina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 tools (VS2 + DVF)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Dual-assembler validation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64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Long-read</a:t>
                      </a:r>
                      <a:r>
                        <a:rPr lang="en-US">
                          <a:effectLst/>
                        </a:rPr>
                        <a:t> ⭐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Nanopore/PacBio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3 tools</a:t>
                      </a:r>
                      <a:r>
                        <a:rPr lang="en-US">
                          <a:effectLst/>
                        </a:rPr>
                        <a:t> (VS2 + DVF + viralFlye)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Pfam</a:t>
                      </a:r>
                      <a:r>
                        <a:rPr lang="en-US" dirty="0">
                          <a:effectLst/>
                        </a:rPr>
                        <a:t> protein validation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239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4864DA9-F585-4D74-84ED-50EF2622437D}"/>
              </a:ext>
            </a:extLst>
          </p:cNvPr>
          <p:cNvSpPr/>
          <p:nvPr/>
        </p:nvSpPr>
        <p:spPr>
          <a:xfrm>
            <a:off x="634483" y="4396999"/>
            <a:ext cx="73711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Long-read advantage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Complete viral genomes + protein validation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Recommendation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Long-read mode for novel virus discovery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0038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BCF7-B770-496D-9837-D77E7E9E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 #1 - VirSorter2 (Hybrid ML)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AA9A3-A94D-4B68-B6E0-21AE26CB0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Method</a:t>
            </a:r>
            <a:r>
              <a:rPr lang="en-US" dirty="0"/>
              <a:t>: Viral features + Machine Learning classifiers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Strengths</a:t>
            </a:r>
            <a:r>
              <a:rPr lang="en-US" dirty="0"/>
              <a:t>:</a:t>
            </a:r>
          </a:p>
          <a:p>
            <a:r>
              <a:rPr lang="en-US" dirty="0"/>
              <a:t>Identifies </a:t>
            </a:r>
            <a:r>
              <a:rPr lang="en-US" b="1" dirty="0"/>
              <a:t>novel variants</a:t>
            </a:r>
            <a:r>
              <a:rPr lang="en-US" dirty="0"/>
              <a:t> of known virus families</a:t>
            </a:r>
          </a:p>
          <a:p>
            <a:r>
              <a:rPr lang="en-US" dirty="0"/>
              <a:t>Classifies virus types (dsDNA phage, ssDNA, RNA virus)</a:t>
            </a:r>
          </a:p>
          <a:p>
            <a:r>
              <a:rPr lang="en-US" dirty="0"/>
              <a:t> Balanced sensitivity and specificity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Novel Virus Discovery</a:t>
            </a:r>
            <a:r>
              <a:rPr lang="en-US" dirty="0"/>
              <a:t>:</a:t>
            </a:r>
          </a:p>
          <a:p>
            <a:r>
              <a:rPr lang="en-US" dirty="0"/>
              <a:t>Can identify viruses with divergent sequences</a:t>
            </a:r>
          </a:p>
          <a:p>
            <a:r>
              <a:rPr lang="en-US" dirty="0"/>
              <a:t>Uses genomic context, not just similarity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Output</a:t>
            </a:r>
            <a:r>
              <a:rPr lang="en-US" dirty="0"/>
              <a:t>: ~30-50 viruses per sample (10 GB data)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23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3BEA-CB1B-40C1-BAE5-DBCC53F8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b="1" dirty="0"/>
              <a:t>Tool #2 - DeepVirFinder (Deep Neural Network)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D23A-59B2-4DDA-A64F-4DE3F1324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740"/>
            <a:ext cx="8229600" cy="1304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DeepVirFinder: The Novel Virus Hunter</a:t>
            </a:r>
          </a:p>
          <a:p>
            <a:r>
              <a:rPr lang="en-US" sz="2400" b="1" dirty="0"/>
              <a:t>Method</a:t>
            </a:r>
            <a:r>
              <a:rPr lang="en-US" sz="2400" dirty="0"/>
              <a:t>: Deep Neural Network trained on viral vs non-viral sequences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C5551-9176-490D-88F8-193E0B210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27" y="2379448"/>
            <a:ext cx="3981062" cy="1670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A510DE-577B-4E9F-AC1D-6B75EEE4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331" y="4422568"/>
            <a:ext cx="4747144" cy="222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5B7F-56A8-4C28-A789-EFA3C7D1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Tool #3 - </a:t>
            </a:r>
            <a:r>
              <a:rPr lang="en-US" b="1" dirty="0" err="1"/>
              <a:t>viralFlye</a:t>
            </a:r>
            <a:r>
              <a:rPr lang="en-US" b="1" dirty="0"/>
              <a:t> (</a:t>
            </a:r>
            <a:r>
              <a:rPr lang="en-US" b="1" dirty="0" err="1"/>
              <a:t>Pfam</a:t>
            </a:r>
            <a:r>
              <a:rPr lang="en-US" b="1" dirty="0"/>
              <a:t> Validation)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DCEA9-C1B0-4865-A0DC-1868FC086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23" y="1309749"/>
            <a:ext cx="8229600" cy="17712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 err="1"/>
              <a:t>viralFlye</a:t>
            </a:r>
            <a:r>
              <a:rPr lang="en-US" sz="2000" b="1" dirty="0"/>
              <a:t>: Function-Based Discovery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Method</a:t>
            </a:r>
            <a:r>
              <a:rPr lang="en-US" sz="2000" dirty="0"/>
              <a:t>: </a:t>
            </a:r>
            <a:r>
              <a:rPr lang="en-US" sz="2000" dirty="0" err="1"/>
              <a:t>Pfam</a:t>
            </a:r>
            <a:r>
              <a:rPr lang="en-US" sz="2000" dirty="0"/>
              <a:t> protein domain validation (20,000 protein families)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How it Works</a:t>
            </a:r>
            <a:r>
              <a:rPr lang="en-US" sz="20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EBD65-5FDD-41F1-BA74-0A450618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53" y="2486107"/>
            <a:ext cx="3768595" cy="21358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24312E-4D96-4A78-B4D7-261CD46AF2B0}"/>
              </a:ext>
            </a:extLst>
          </p:cNvPr>
          <p:cNvSpPr/>
          <p:nvPr/>
        </p:nvSpPr>
        <p:spPr>
          <a:xfrm>
            <a:off x="678024" y="4744384"/>
            <a:ext cx="80771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Novel Virus Discovery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Discovers viruses by </a:t>
            </a: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FUNCTION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, not sequence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-apple-system"/>
              </a:rPr>
              <a:t>Can identify completely novel viruses with known protein domains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1F2328"/>
                </a:solidFill>
                <a:latin typeface="-apple-system"/>
              </a:rPr>
              <a:t>Output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: ~28 candidates (high specificity, </a:t>
            </a:r>
            <a:r>
              <a:rPr lang="en-US" sz="2000" dirty="0" err="1">
                <a:solidFill>
                  <a:srgbClr val="1F2328"/>
                </a:solidFill>
                <a:latin typeface="-apple-system"/>
              </a:rPr>
              <a:t>Pfam</a:t>
            </a:r>
            <a:r>
              <a:rPr lang="en-US" sz="2000" dirty="0">
                <a:solidFill>
                  <a:srgbClr val="1F2328"/>
                </a:solidFill>
                <a:latin typeface="-apple-system"/>
              </a:rPr>
              <a:t>-validated)</a:t>
            </a:r>
            <a:endParaRPr lang="en-US" sz="2000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22095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6FFA-399F-4F6B-B7F7-1351E661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Three Tools?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1476-89DD-4F5F-9E84-71F678C4A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Complementary Strengths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D5D268-A62C-44A5-81B8-F911398EE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26453"/>
              </p:ext>
            </p:extLst>
          </p:nvPr>
        </p:nvGraphicFramePr>
        <p:xfrm>
          <a:off x="600269" y="2334201"/>
          <a:ext cx="8229600" cy="15544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21019999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8267258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6247292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07740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Tool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Discovery Method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Strength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Virus Count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VirSorter2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Features + ML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Balanced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~30-50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605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DeepVirFinder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Deep Learning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Novel Discovery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~200-500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76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viralFlye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Protein Function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High Specificity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~28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849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74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84F8-E487-4E24-A411-4601D999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Parameter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948A9-73F8-4494-ACBC-596683206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5496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Tuning for Novel Virus Discovery</a:t>
            </a:r>
          </a:p>
          <a:p>
            <a:pPr marL="0" indent="0">
              <a:buNone/>
            </a:pPr>
            <a:r>
              <a:rPr lang="en-US" sz="2400" b="1" dirty="0"/>
              <a:t>Critical Parameters</a:t>
            </a:r>
            <a:r>
              <a:rPr lang="en-US" sz="24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E63E2-A436-477E-824A-D8F14D8F8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05" y="2811624"/>
            <a:ext cx="7035282" cy="33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2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B9FC-5CED-49AA-B1C7-B5219F5C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Scalable and Efficient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27C60-2B6B-4EFC-ADFB-619519E1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6551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latin typeface="-apple-system"/>
              </a:rPr>
              <a:t>Resource Requirements: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71C08F-FEE1-423C-A270-B790B5082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48176"/>
              </p:ext>
            </p:extLst>
          </p:nvPr>
        </p:nvGraphicFramePr>
        <p:xfrm>
          <a:off x="457200" y="2323785"/>
          <a:ext cx="8229600" cy="26060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50036392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1144537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755440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558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Component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CPU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Memory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Time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96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metaFlye assembly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128 GB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24-48h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26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VirSorter2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64 GB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12-24h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353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DeepVirFinder (ML)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32 GB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8-12h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630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viralFlye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128 GB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24-36h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99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Total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256 GB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48-72h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8795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B97E0EA-6DB1-48F0-8D1A-4A35063A0067}"/>
              </a:ext>
            </a:extLst>
          </p:cNvPr>
          <p:cNvSpPr/>
          <p:nvPr/>
        </p:nvSpPr>
        <p:spPr>
          <a:xfrm>
            <a:off x="706015" y="5430617"/>
            <a:ext cx="79092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Parallel Execution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All three tools run simultaneously</a:t>
            </a:r>
          </a:p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Scalability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Tested on 1-100 GB datasets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8234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F2D5-6BB3-44E0-BAAA-31C43A1F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Applications and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CB78-7815-4277-9E91-20C2AEE3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dirty="0"/>
              <a:t>Real-World Applications</a:t>
            </a:r>
          </a:p>
          <a:p>
            <a:pPr marL="0" indent="0">
              <a:buNone/>
            </a:pPr>
            <a:r>
              <a:rPr lang="en-US" b="1" dirty="0"/>
              <a:t>1. Environmental Virology</a:t>
            </a:r>
            <a:endParaRPr lang="en-US" dirty="0"/>
          </a:p>
          <a:p>
            <a:r>
              <a:rPr lang="en-US" dirty="0"/>
              <a:t>Discover viruses in unexplored environments</a:t>
            </a:r>
          </a:p>
          <a:p>
            <a:r>
              <a:rPr lang="en-US" dirty="0"/>
              <a:t>Water/Wastewater, soil, extreme environments</a:t>
            </a:r>
          </a:p>
          <a:p>
            <a:r>
              <a:rPr lang="en-US" b="1" dirty="0"/>
              <a:t>Impact</a:t>
            </a:r>
            <a:r>
              <a:rPr lang="en-US" dirty="0"/>
              <a:t>: Expand viral diversity catalog</a:t>
            </a:r>
          </a:p>
          <a:p>
            <a:pPr marL="0" indent="0">
              <a:buNone/>
            </a:pPr>
            <a:r>
              <a:rPr lang="en-US" b="1" dirty="0"/>
              <a:t>2. Clinical Applications</a:t>
            </a:r>
            <a:endParaRPr lang="en-US" dirty="0"/>
          </a:p>
          <a:p>
            <a:r>
              <a:rPr lang="en-US" dirty="0"/>
              <a:t>Identify novel pathogens in clinical samples</a:t>
            </a:r>
          </a:p>
          <a:p>
            <a:r>
              <a:rPr lang="en-US" dirty="0"/>
              <a:t>Detect emerging infectious diseases</a:t>
            </a:r>
          </a:p>
          <a:p>
            <a:r>
              <a:rPr lang="en-US" b="1" dirty="0"/>
              <a:t>Impact</a:t>
            </a:r>
            <a:r>
              <a:rPr lang="en-US" dirty="0"/>
              <a:t>: Early warning system</a:t>
            </a:r>
          </a:p>
          <a:p>
            <a:pPr marL="0" indent="0">
              <a:buNone/>
            </a:pPr>
            <a:r>
              <a:rPr lang="en-US" b="1" dirty="0"/>
              <a:t>3. Evolutionary Biology</a:t>
            </a:r>
            <a:endParaRPr lang="en-US" dirty="0"/>
          </a:p>
          <a:p>
            <a:r>
              <a:rPr lang="en-US" dirty="0"/>
              <a:t>Understand virus-host co-evolution</a:t>
            </a:r>
          </a:p>
          <a:p>
            <a:r>
              <a:rPr lang="en-US" dirty="0"/>
              <a:t>Trace viral origins and diversification</a:t>
            </a:r>
          </a:p>
          <a:p>
            <a:r>
              <a:rPr lang="en-US" b="1" dirty="0"/>
              <a:t>Impact</a:t>
            </a:r>
            <a:r>
              <a:rPr lang="en-US" dirty="0"/>
              <a:t>: Fundamental insights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157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85BA-9031-456A-8C9E-577B3E6B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Advantages Over Existing Methods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5AD302-0FE7-4B73-A14A-3CA1914AE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46987"/>
              </p:ext>
            </p:extLst>
          </p:nvPr>
        </p:nvGraphicFramePr>
        <p:xfrm>
          <a:off x="457200" y="1760061"/>
          <a:ext cx="8229600" cy="3108960"/>
        </p:xfrm>
        <a:graphic>
          <a:graphicData uri="http://schemas.openxmlformats.org/drawingml/2006/table">
            <a:tbl>
              <a:tblPr/>
              <a:tblGrid>
                <a:gridCol w="2397967">
                  <a:extLst>
                    <a:ext uri="{9D8B030D-6E8A-4147-A177-3AD203B41FA5}">
                      <a16:colId xmlns:a16="http://schemas.microsoft.com/office/drawing/2014/main" val="2658296415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2538546465"/>
                    </a:ext>
                  </a:extLst>
                </a:gridCol>
                <a:gridCol w="3306147">
                  <a:extLst>
                    <a:ext uri="{9D8B030D-6E8A-4147-A177-3AD203B41FA5}">
                      <a16:colId xmlns:a16="http://schemas.microsoft.com/office/drawing/2014/main" val="460670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Feature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Traditional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Our Workflow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149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Novel Virus Discovery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en-US" dirty="0">
                          <a:effectLst/>
                        </a:rPr>
                        <a:t> Requires similarity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ML pattern recognition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73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Validation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Single tool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Three independent tools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202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Confidence Tiers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Binary (yes/no)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4-level stratification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72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Protein Validation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en-US" dirty="0">
                          <a:effectLst/>
                        </a:rPr>
                        <a:t> Not included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Pfam</a:t>
                      </a:r>
                      <a:r>
                        <a:rPr lang="en-US" dirty="0">
                          <a:effectLst/>
                        </a:rPr>
                        <a:t> domain analysis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15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False Positive Rate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Low (multi-tool filtering)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79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Completeness Info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en-US" dirty="0">
                          <a:effectLst/>
                        </a:rPr>
                        <a:t> Not assessed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viralComplete</a:t>
                      </a:r>
                      <a:r>
                        <a:rPr lang="en-US" dirty="0">
                          <a:effectLst/>
                        </a:rPr>
                        <a:t> scores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43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Automation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Manual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</a:rPr>
                        <a:t>✅</a:t>
                      </a:r>
                      <a:r>
                        <a:rPr lang="en-US" dirty="0">
                          <a:effectLst/>
                        </a:rPr>
                        <a:t> Fully automated </a:t>
                      </a:r>
                      <a:r>
                        <a:rPr lang="en-US" dirty="0" err="1">
                          <a:effectLst/>
                        </a:rPr>
                        <a:t>Nextflow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60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05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E14-7ACD-4718-8C9E-D945F83E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9DEB9-399A-4719-9AAF-D05844A5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Key Takeaways</a:t>
            </a:r>
          </a:p>
          <a:p>
            <a:pPr marL="0" indent="0">
              <a:buNone/>
            </a:pPr>
            <a:r>
              <a:rPr lang="en-US" b="1" dirty="0"/>
              <a:t>1. </a:t>
            </a:r>
            <a:r>
              <a:rPr lang="en-US" sz="2600" b="1" dirty="0"/>
              <a:t>Machine Learning Revolution</a:t>
            </a:r>
            <a:endParaRPr lang="en-US" sz="2600" dirty="0"/>
          </a:p>
          <a:p>
            <a:r>
              <a:rPr lang="en-US" sz="2600" dirty="0"/>
              <a:t>Discovers viruses </a:t>
            </a:r>
            <a:r>
              <a:rPr lang="en-US" sz="2600" b="1" dirty="0"/>
              <a:t>without requiring similarity</a:t>
            </a:r>
            <a:r>
              <a:rPr lang="en-US" sz="2600" dirty="0"/>
              <a:t> to known sequences</a:t>
            </a:r>
          </a:p>
          <a:p>
            <a:r>
              <a:rPr lang="en-US" sz="2600" dirty="0"/>
              <a:t>Opens the door to viral "dark matter"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600" b="1" dirty="0"/>
              <a:t>2. Multi-Tool Validation</a:t>
            </a:r>
            <a:r>
              <a:rPr lang="en-US" sz="2600" dirty="0"/>
              <a:t> </a:t>
            </a:r>
          </a:p>
          <a:p>
            <a:r>
              <a:rPr lang="en-US" sz="2600" dirty="0"/>
              <a:t>Three independent lines of evidence</a:t>
            </a:r>
          </a:p>
          <a:p>
            <a:r>
              <a:rPr lang="en-US" sz="2600" dirty="0"/>
              <a:t>Clear confidence stratification</a:t>
            </a:r>
          </a:p>
          <a:p>
            <a:r>
              <a:rPr lang="en-US" sz="2600" dirty="0"/>
              <a:t>Minimizes false positives</a:t>
            </a:r>
          </a:p>
          <a:p>
            <a:r>
              <a:rPr lang="en-US" sz="2600" dirty="0"/>
              <a:t>High specificity through cross-validation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600" b="1" dirty="0"/>
              <a:t>3. Fully automated </a:t>
            </a:r>
            <a:r>
              <a:rPr lang="en-US" sz="2600" b="1" dirty="0" err="1"/>
              <a:t>Nextflow</a:t>
            </a:r>
            <a:r>
              <a:rPr lang="en-US" sz="2600" b="1" dirty="0"/>
              <a:t> pipeline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9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23E-DACC-4FDE-8A6D-18033AC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11" y="3072586"/>
            <a:ext cx="4911189" cy="639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71A28-AC3A-4A3E-9367-E27904FF0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73" y="229852"/>
            <a:ext cx="1487899" cy="50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11632</TotalTime>
  <Words>591</Words>
  <Application>Microsoft Office PowerPoint</Application>
  <PresentationFormat>On-screen Show (4:3)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</vt:lpstr>
      <vt:lpstr>SimSun</vt:lpstr>
      <vt:lpstr>Arial</vt:lpstr>
      <vt:lpstr>Calibri</vt:lpstr>
      <vt:lpstr>Times New Roman</vt:lpstr>
      <vt:lpstr>Wingdings</vt:lpstr>
      <vt:lpstr>Office Theme</vt:lpstr>
      <vt:lpstr>Machine Learning-Enhanced Metagenomic Viral Discovery Workflow</vt:lpstr>
      <vt:lpstr>Challenge - Traditional Limitations</vt:lpstr>
      <vt:lpstr>Solution - Machine Learning Revolution</vt:lpstr>
      <vt:lpstr>Three-Pronged ML Strategy</vt:lpstr>
      <vt:lpstr>Dual-Mode Design</vt:lpstr>
      <vt:lpstr>Tool #1 - VirSorter2 (Hybrid ML)</vt:lpstr>
      <vt:lpstr>Tool #2 - DeepVirFinder (Deep Neural Network)</vt:lpstr>
      <vt:lpstr>Tool #3 - viralFlye (Pfam Validation)</vt:lpstr>
      <vt:lpstr>Why Three Tools?</vt:lpstr>
      <vt:lpstr>Parameter Optimization</vt:lpstr>
      <vt:lpstr>Scalable and Efficient</vt:lpstr>
      <vt:lpstr>Applications and Impact</vt:lpstr>
      <vt:lpstr>Advantages Over Existing Methods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Pathogen Surveillance Workflow</dc:title>
  <dc:subject/>
  <dc:creator>Sihua Peng</dc:creator>
  <cp:keywords/>
  <dc:description>generated using python-pptx</dc:description>
  <cp:lastModifiedBy>Sihua Peng</cp:lastModifiedBy>
  <cp:revision>193</cp:revision>
  <dcterms:created xsi:type="dcterms:W3CDTF">2013-01-27T09:14:16Z</dcterms:created>
  <dcterms:modified xsi:type="dcterms:W3CDTF">2025-11-04T21:25:37Z</dcterms:modified>
  <cp:category/>
</cp:coreProperties>
</file>